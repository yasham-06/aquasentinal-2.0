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solidFill>
              <a:srgbClr val="07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Arial"/>
              </a:defRPr>
            </a:pPr>
            <a:r>
              <a:t>AQUA INTELLIGENCE · HACKDAY 1.0 SUBMISSION  |  SLIDE 01 OF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Water loss is often detected after it becomes expensive.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777240"/>
          </a:xfrm>
          <a:prstGeom prst="rect">
            <a:avLst/>
          </a:prstGeom>
          <a:solidFill>
            <a:srgbClr val="144266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2D3EE"/>
                </a:solidFill>
                <a:latin typeface="Arial"/>
              </a:defRPr>
            </a:pPr>
            <a:r>
              <a:t>"Hidden leaks and abnormal water consumption can remain difficult to localize when operators rely only on aggregate water readings."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3447288" cy="2560320"/>
          </a:xfrm>
          <a:prstGeom prst="rect">
            <a:avLst/>
          </a:prstGeom>
          <a:solidFill>
            <a:srgbClr val="0B2940"/>
          </a:solidFill>
          <a:ln w="12700">
            <a:solidFill>
              <a:srgbClr val="245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3081528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  <a:latin typeface="Arial"/>
              </a:defRPr>
            </a:pPr>
            <a:r>
              <a:t>01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  <a:latin typeface="Arial"/>
              </a:defRPr>
            </a:pPr>
            <a:r>
              <a:t>HIDDEN WATER LOSS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Downstream leaks remain invisible behind aggregate supply measurements. Unnoticed baseline breaches compound into thousands of liters lost.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0832" y="2240280"/>
            <a:ext cx="3447288" cy="2560320"/>
          </a:xfrm>
          <a:prstGeom prst="rect">
            <a:avLst/>
          </a:prstGeom>
          <a:solidFill>
            <a:srgbClr val="0B2940"/>
          </a:solidFill>
          <a:ln w="12700">
            <a:solidFill>
              <a:srgbClr val="245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2331720"/>
            <a:ext cx="3081528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  <a:latin typeface="Arial"/>
              </a:defRPr>
            </a:pPr>
            <a:r>
              <a:t>02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  <a:latin typeface="Arial"/>
              </a:defRPr>
            </a:pPr>
            <a:r>
              <a:t>DELAYED LOCALIZATION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Detecting an abnormal reading does not identify which building or zone requires intervention, forcing manual physical site searches.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10144" y="2240280"/>
            <a:ext cx="3447288" cy="2560320"/>
          </a:xfrm>
          <a:prstGeom prst="rect">
            <a:avLst/>
          </a:prstGeom>
          <a:solidFill>
            <a:srgbClr val="0B2940"/>
          </a:solidFill>
          <a:ln w="12700">
            <a:solidFill>
              <a:srgbClr val="245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93024" y="2331720"/>
            <a:ext cx="3081528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  <a:latin typeface="Arial"/>
              </a:defRPr>
            </a:pPr>
            <a:r>
              <a:t>03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  <a:latin typeface="Arial"/>
              </a:defRPr>
            </a:pPr>
            <a:r>
              <a:t>NO CLOSED-LOOP VERIFICATION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Monitoring alone fails to verify recovery. Operators lack automated proof that shutoff successfully contained the loss.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983480"/>
            <a:ext cx="10728655" cy="868680"/>
          </a:xfrm>
          <a:prstGeom prst="rect">
            <a:avLst/>
          </a:prstGeom>
          <a:solidFill>
            <a:srgbClr val="0B2940"/>
          </a:solidFill>
          <a:ln w="12700">
            <a:solidFill>
              <a:srgbClr val="245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02920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4A3B8"/>
                </a:solidFill>
                <a:latin typeface="Arial"/>
              </a:defRPr>
            </a:pPr>
            <a:r>
              <a:t>OPERATIONAL FAILURE CHAIN:</a:t>
            </a:r>
          </a:p>
          <a:p>
            <a:pPr>
              <a:spcBef>
                <a:spcPts val="400"/>
              </a:spcBef>
              <a:defRPr sz="1100" b="1">
                <a:solidFill>
                  <a:srgbClr val="EF4444"/>
                </a:solidFill>
                <a:latin typeface="Arial"/>
              </a:defRPr>
            </a:pPr>
            <a:r>
              <a:t>SUPPLY GATE  ──►  DISTRIBUTION MANIFOLD  ──►  HIDDEN DOWNSTREAM LOSS  ──►  DELAYED LOCALIZATION  ──►  WATER + FINANCIAL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9893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rial"/>
              </a:defRPr>
            </a:pPr>
            <a:r>
              <a:t>The challenge is not only detecting water loss — it is detecting it early, locating it, acting on it, and verifying recovery.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solidFill>
              <a:srgbClr val="07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Arial"/>
              </a:defRPr>
            </a:pPr>
            <a:r>
              <a:t>AquaSentinel 2.0 — AI-POWERED WATER NETWORK INTELLIGENCE  |  SLIDE 02 OF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Predict the leak. Protect the network.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664208" cy="1005840"/>
          </a:xfrm>
          <a:prstGeom prst="rect">
            <a:avLst/>
          </a:prstGeom>
          <a:solidFill>
            <a:srgbClr val="144266"/>
          </a:solidFill>
          <a:ln w="12700">
            <a:solidFill>
              <a:srgbClr val="245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280160"/>
            <a:ext cx="15179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Arial"/>
              </a:defRPr>
            </a:pPr>
            <a:r>
              <a:t>01 · DETECT</a:t>
            </a:r>
          </a:p>
          <a:p>
            <a:pPr>
              <a:spcBef>
                <a:spcPts val="3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220 L/min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2542032" y="1234440"/>
            <a:ext cx="1664208" cy="1005840"/>
          </a:xfrm>
          <a:prstGeom prst="rect">
            <a:avLst/>
          </a:prstGeom>
          <a:solidFill>
            <a:srgbClr val="144266"/>
          </a:solidFill>
          <a:ln w="12700">
            <a:solidFill>
              <a:srgbClr val="245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15184" y="1280160"/>
            <a:ext cx="15179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Arial"/>
              </a:defRPr>
            </a:pPr>
            <a:r>
              <a:t>02 · LOCATE</a:t>
            </a:r>
          </a:p>
          <a:p>
            <a:pPr>
              <a:spcBef>
                <a:spcPts val="3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Block B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2544" y="1234440"/>
            <a:ext cx="1664208" cy="1005840"/>
          </a:xfrm>
          <a:prstGeom prst="rect">
            <a:avLst/>
          </a:prstGeom>
          <a:solidFill>
            <a:srgbClr val="144266"/>
          </a:solidFill>
          <a:ln w="12700">
            <a:solidFill>
              <a:srgbClr val="245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25696" y="1280160"/>
            <a:ext cx="15179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Arial"/>
              </a:defRPr>
            </a:pPr>
            <a:r>
              <a:t>03 · EXPLAIN</a:t>
            </a:r>
          </a:p>
          <a:p>
            <a:pPr>
              <a:spcBef>
                <a:spcPts val="3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+18.4% Var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3055" y="1234440"/>
            <a:ext cx="1664208" cy="1005840"/>
          </a:xfrm>
          <a:prstGeom prst="rect">
            <a:avLst/>
          </a:prstGeom>
          <a:solidFill>
            <a:srgbClr val="144266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6207" y="1280160"/>
            <a:ext cx="15179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  <a:latin typeface="Arial"/>
              </a:defRPr>
            </a:pPr>
            <a:r>
              <a:t>04 · ACTUATE</a:t>
            </a:r>
          </a:p>
          <a:p>
            <a:pPr>
              <a:spcBef>
                <a:spcPts val="3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Isolate V-02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73568" y="1234440"/>
            <a:ext cx="1664208" cy="1005840"/>
          </a:xfrm>
          <a:prstGeom prst="rect">
            <a:avLst/>
          </a:prstGeom>
          <a:solidFill>
            <a:srgbClr val="144266"/>
          </a:solidFill>
          <a:ln w="12700">
            <a:solidFill>
              <a:srgbClr val="245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1280160"/>
            <a:ext cx="15179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Arial"/>
              </a:defRPr>
            </a:pPr>
            <a:r>
              <a:t>05 · VERIFY</a:t>
            </a:r>
          </a:p>
          <a:p>
            <a:pPr>
              <a:spcBef>
                <a:spcPts val="3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0 L/min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84080" y="1234440"/>
            <a:ext cx="1664208" cy="1005840"/>
          </a:xfrm>
          <a:prstGeom prst="rect">
            <a:avLst/>
          </a:prstGeom>
          <a:solidFill>
            <a:srgbClr val="144266"/>
          </a:solidFill>
          <a:ln w="12700">
            <a:solidFill>
              <a:srgbClr val="245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57232" y="1280160"/>
            <a:ext cx="15179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Arial"/>
              </a:defRPr>
            </a:pPr>
            <a:r>
              <a:t>06 · QUANTIFY</a:t>
            </a:r>
          </a:p>
          <a:p>
            <a:pPr>
              <a:spcBef>
                <a:spcPts val="3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18,360 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377440"/>
            <a:ext cx="5212080" cy="2103120"/>
          </a:xfrm>
          <a:prstGeom prst="rect">
            <a:avLst/>
          </a:prstGeom>
          <a:solidFill>
            <a:srgbClr val="0B2940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4688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F4444"/>
                </a:solidFill>
                <a:latin typeface="Arial"/>
              </a:defRPr>
            </a:pPr>
            <a:r>
              <a:t>DIFFERENTIAL LEAK BREACH</a:t>
            </a:r>
          </a:p>
          <a:p>
            <a:pPr>
              <a:spcBef>
                <a:spcPts val="200"/>
              </a:spcBef>
              <a:defRPr sz="3800" b="1">
                <a:solidFill>
                  <a:srgbClr val="EF4444"/>
                </a:solidFill>
                <a:latin typeface="Arial"/>
              </a:defRPr>
            </a:pPr>
            <a:r>
              <a:t>+51 L/min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Main Gateway Inflow: 220 L/min  |  Accounted Outflows: 169 L/min</a:t>
            </a:r>
            <a:br/>
            <a:r>
              <a:t>Observed Block B Utility Line Flow: 94 L/min (Baseline: 43 L/min)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377440"/>
            <a:ext cx="5242255" cy="2103120"/>
          </a:xfrm>
          <a:prstGeom prst="rect">
            <a:avLst/>
          </a:prstGeom>
          <a:solidFill>
            <a:srgbClr val="0B2940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468880"/>
            <a:ext cx="487649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C55E"/>
                </a:solidFill>
                <a:latin typeface="Arial"/>
              </a:defRPr>
            </a:pPr>
            <a:r>
              <a:t>PREVENTED WATER LOSS</a:t>
            </a:r>
          </a:p>
          <a:p>
            <a:pPr>
              <a:spcBef>
                <a:spcPts val="200"/>
              </a:spcBef>
              <a:defRPr sz="3800" b="1">
                <a:solidFill>
                  <a:srgbClr val="22C55E"/>
                </a:solidFill>
                <a:latin typeface="Arial"/>
              </a:defRPr>
            </a:pPr>
            <a:r>
              <a:t>18,360 Liters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Avoided Financial Exposure: ₹826.20 (6h loss projection)</a:t>
            </a:r>
            <a:br/>
            <a:r>
              <a:t>Post-Isolation Flow Imbalance: 0 L/min (Verified Containment)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617720"/>
            <a:ext cx="10728655" cy="1737360"/>
          </a:xfrm>
          <a:prstGeom prst="rect">
            <a:avLst/>
          </a:prstGeom>
          <a:solidFill>
            <a:srgbClr val="144266"/>
          </a:solidFill>
          <a:ln w="12700">
            <a:solidFill>
              <a:srgbClr val="245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709160"/>
            <a:ext cx="103628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Arial"/>
              </a:defRPr>
            </a:pPr>
            <a:r>
              <a:t>PROTOTYPE CLOSED-LOOP WORKFLOW EXAMPLE:</a:t>
            </a:r>
          </a:p>
          <a:p>
            <a:pPr>
              <a:spcBef>
                <a:spcPts val="400"/>
              </a:spcBef>
              <a:defRPr sz="1200" b="1">
                <a:solidFill>
                  <a:srgbClr val="F8FAFC"/>
                </a:solidFill>
                <a:latin typeface="Arial"/>
              </a:defRPr>
            </a:pPr>
            <a:r>
              <a:t>+51 L/min Anomaly  ──►  Block B Identified  ──►  V-02 Recommended  ──►  Solenoid Isolation  ──►  0 L/min Imbalance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AquaSentinel bridges the gap between raw monitoring and automated shutoff actuation, providing operators with single-pane diagnostic visibility and immediate loss containment.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solidFill>
              <a:srgbClr val="07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Arial"/>
              </a:defRPr>
            </a:pPr>
            <a:r>
              <a:t>TARGET USERS &amp; OPERATOR WORKFLOW  |  SLIDE 03 OF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One intelligence layer for distributed water infrastructure.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5257800" cy="1965960"/>
          </a:xfrm>
          <a:prstGeom prst="rect">
            <a:avLst/>
          </a:prstGeom>
          <a:solidFill>
            <a:srgbClr val="0B2940"/>
          </a:solidFill>
          <a:ln w="12700">
            <a:solidFill>
              <a:srgbClr val="245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44752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01 · EDUCATIONAL CAMPUSES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Universities, schools, and multi-building institutions with sprawling sub-metered water distribution networks.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9632" y="1280160"/>
            <a:ext cx="5257800" cy="1965960"/>
          </a:xfrm>
          <a:prstGeom prst="rect">
            <a:avLst/>
          </a:prstGeom>
          <a:solidFill>
            <a:srgbClr val="0B2940"/>
          </a:solidFill>
          <a:ln w="12700">
            <a:solidFill>
              <a:srgbClr val="245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444752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02 · COMMERCIAL &amp; HEALTHCARE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Hospitals, hotels, shopping complexes, and enterprise office campuses requiring uninterrupted water uptime.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383279"/>
            <a:ext cx="5257800" cy="1965960"/>
          </a:xfrm>
          <a:prstGeom prst="rect">
            <a:avLst/>
          </a:prstGeom>
          <a:solidFill>
            <a:srgbClr val="0B2940"/>
          </a:solidFill>
          <a:ln w="12700">
            <a:solidFill>
              <a:srgbClr val="245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47871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03 · INDUSTRIAL FACILITIES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Manufacturing sites, processing plants, and data centers where continuous flow monitoring and zero loss are vital.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3383279"/>
            <a:ext cx="5257800" cy="1965960"/>
          </a:xfrm>
          <a:prstGeom prst="rect">
            <a:avLst/>
          </a:prstGeom>
          <a:solidFill>
            <a:srgbClr val="0B2940"/>
          </a:solidFill>
          <a:ln w="12700">
            <a:solidFill>
              <a:srgbClr val="245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3547871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04 · MUNICIPAL &amp; SMART CITIES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Distributed municipal water networks needing centralized differential audits and remote zone valve control.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623560"/>
            <a:ext cx="10728655" cy="822960"/>
          </a:xfrm>
          <a:prstGeom prst="rect">
            <a:avLst/>
          </a:prstGeom>
          <a:solidFill>
            <a:srgbClr val="144266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7150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Arial"/>
              </a:defRPr>
            </a:pPr>
            <a:r>
              <a:t>OPERATOR WORKFLOW HANDOFF:</a:t>
            </a:r>
          </a:p>
          <a:p>
            <a:pPr>
              <a:spcBef>
                <a:spcPts val="200"/>
              </a:spcBef>
              <a:defRPr sz="1300" b="1">
                <a:solidFill>
                  <a:srgbClr val="22C55E"/>
                </a:solidFill>
                <a:latin typeface="Arial"/>
              </a:defRPr>
            </a:pPr>
            <a:r>
              <a:t>MONITOR  ──►  DETECT  ──►  LOCATE  ──►  ISOLATE  ──►  VERIFY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solidFill>
              <a:srgbClr val="07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Arial"/>
              </a:defRPr>
            </a:pPr>
            <a:r>
              <a:t>AQUA INTELLIGENCE · HACKDAY 1.0 SUBMISSION  |  SLIDE 04 OF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HOW AQUASENTINEL WORKS — TECHNICAL APPROACH &amp;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5669280" cy="5257800"/>
          </a:xfrm>
          <a:prstGeom prst="rect">
            <a:avLst/>
          </a:prstGeom>
          <a:solidFill>
            <a:srgbClr val="0B2940"/>
          </a:solidFill>
          <a:ln w="12700">
            <a:solidFill>
              <a:srgbClr val="245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53035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D3EE"/>
                </a:solidFill>
                <a:latin typeface="Arial"/>
              </a:defRPr>
            </a:pPr>
            <a:r>
              <a:t>END-TO-END ARCHITECTURE PIPELINE</a:t>
            </a:r>
          </a:p>
          <a:p>
            <a:pPr>
              <a:spcBef>
                <a:spcPts val="600"/>
              </a:spcBef>
              <a:defRPr sz="1000" b="1">
                <a:solidFill>
                  <a:srgbClr val="38BDF8"/>
                </a:solidFill>
                <a:latin typeface="Arial"/>
              </a:defRPr>
            </a:pPr>
            <a:r>
              <a:t>01 · DISTRIBUTED TELEMETRY STREAM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High-frequency sub-meter flow, line pressure (2.8 bar), and tank level.</a:t>
            </a:r>
          </a:p>
          <a:p>
            <a:pPr>
              <a:spcBef>
                <a:spcPts val="600"/>
              </a:spcBef>
              <a:defRPr sz="1000" b="1">
                <a:solidFill>
                  <a:srgbClr val="38BDF8"/>
                </a:solidFill>
                <a:latin typeface="Arial"/>
              </a:defRPr>
            </a:pPr>
            <a:r>
              <a:t>02 · DIFFERENTIAL FLOW ENGINE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Mathematical audit: Unaccounted Loss = Max(0, Main Inflow - Sum Outflows).</a:t>
            </a:r>
          </a:p>
          <a:p>
            <a:pPr>
              <a:spcBef>
                <a:spcPts val="600"/>
              </a:spcBef>
              <a:defRPr sz="1000" b="1">
                <a:solidFill>
                  <a:srgbClr val="38BDF8"/>
                </a:solidFill>
                <a:latin typeface="Arial"/>
              </a:defRPr>
            </a:pPr>
            <a:r>
              <a:t>03 · PREDICTIVE RISK ENGINE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Multi-indicator evaluation combining +1.5x flow breach with +18.4% pressure drop variance.</a:t>
            </a:r>
          </a:p>
          <a:p>
            <a:pPr>
              <a:spcBef>
                <a:spcPts val="600"/>
              </a:spcBef>
              <a:defRPr sz="1000" b="1">
                <a:solidFill>
                  <a:srgbClr val="38BDF8"/>
                </a:solidFill>
                <a:latin typeface="Arial"/>
              </a:defRPr>
            </a:pPr>
            <a:r>
              <a:t>04 · SPATIAL NETWORK TOPOLOGY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6-node hierarchical tree: Main Supply ──► Manifold ──► Zone Risers ──► Solenoid Valves.</a:t>
            </a:r>
          </a:p>
          <a:p>
            <a:pPr>
              <a:spcBef>
                <a:spcPts val="600"/>
              </a:spcBef>
              <a:defRPr sz="1000" b="1">
                <a:solidFill>
                  <a:srgbClr val="38BDF8"/>
                </a:solidFill>
                <a:latin typeface="Arial"/>
              </a:defRPr>
            </a:pPr>
            <a:r>
              <a:t>05 · REMOTE SOLENOID ACTUATION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State machine: OPEN ──► ISOLATING ──► CLOSED / ISOLATED (Valve #V-02).</a:t>
            </a:r>
          </a:p>
          <a:p>
            <a:pPr>
              <a:spcBef>
                <a:spcPts val="600"/>
              </a:spcBef>
              <a:defRPr sz="1000" b="1">
                <a:solidFill>
                  <a:srgbClr val="38BDF8"/>
                </a:solidFill>
                <a:latin typeface="Arial"/>
              </a:defRPr>
            </a:pPr>
            <a:r>
              <a:t>06 · RECOVERY &amp; ESG ANALYTICS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Automated 0 L/min imbalance audit, 18,360 L volume tracking, and cost savings.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234440"/>
            <a:ext cx="4876495" cy="5257800"/>
          </a:xfrm>
          <a:prstGeom prst="rect">
            <a:avLst/>
          </a:prstGeom>
          <a:solidFill>
            <a:srgbClr val="0B2940"/>
          </a:solidFill>
          <a:ln w="12700">
            <a:solidFill>
              <a:srgbClr val="245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325880"/>
            <a:ext cx="451073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Arial"/>
              </a:defRPr>
            </a:pPr>
            <a:r>
              <a:t>TECHNOLOGY STACK &amp; IMPLEMENTATION STATUS</a:t>
            </a:r>
          </a:p>
          <a:p>
            <a:pPr>
              <a:spcBef>
                <a:spcPts val="1000"/>
              </a:spcBef>
              <a:defRPr sz="1000" b="1">
                <a:solidFill>
                  <a:srgbClr val="22D3EE"/>
                </a:solidFill>
                <a:latin typeface="Arial"/>
              </a:defRPr>
            </a:pPr>
            <a:r>
              <a:t>■ FRONTEND TECH STACK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React 18 • TypeScript • Tailwind CSS • Recharts • Vite • Lucide Icons</a:t>
            </a:r>
          </a:p>
          <a:p>
            <a:pPr>
              <a:spcBef>
                <a:spcPts val="1000"/>
              </a:spcBef>
              <a:defRPr sz="1000" b="1">
                <a:solidFill>
                  <a:srgbClr val="22D3EE"/>
                </a:solidFill>
                <a:latin typeface="Arial"/>
              </a:defRPr>
            </a:pPr>
            <a:r>
              <a:t>■ INTELLIGENCE ENGINE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Differential Flow Analysis • Anomaly Engine • Predictive Risk Engine • Explainable Diagnostics • ESG Impact Model</a:t>
            </a:r>
          </a:p>
          <a:p>
            <a:pPr>
              <a:spcBef>
                <a:spcPts val="1000"/>
              </a:spcBef>
              <a:defRPr sz="1000" b="1">
                <a:solidFill>
                  <a:srgbClr val="22D3EE"/>
                </a:solidFill>
                <a:latin typeface="Arial"/>
              </a:defRPr>
            </a:pPr>
            <a:r>
              <a:t>■ CURRENT PROTOTYPE REALITY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Simulated distributed telemetry + software-based valve actuation state machine</a:t>
            </a:r>
          </a:p>
          <a:p>
            <a:pPr>
              <a:spcBef>
                <a:spcPts val="1000"/>
              </a:spcBef>
              <a:defRPr sz="1000" b="1">
                <a:solidFill>
                  <a:srgbClr val="22D3EE"/>
                </a:solidFill>
                <a:latin typeface="Arial"/>
              </a:defRPr>
            </a:pPr>
            <a:r>
              <a:t>■ FUTURE HARDWARE INTEGRATION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ESP32 microcontrollers + RS485 Modbus RTU / MQTT over LoRaWAN + physical valve controllers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solidFill>
              <a:srgbClr val="07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Arial"/>
              </a:defRPr>
            </a:pPr>
            <a:r>
              <a:t>MARKET &amp; BUSINESS POTENTIAL  |  SLIDE 05 OF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Reduce water loss. Reduce response time. Quantify impact.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731520"/>
          </a:xfrm>
          <a:prstGeom prst="rect">
            <a:avLst/>
          </a:prstGeom>
          <a:solidFill>
            <a:srgbClr val="144266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Arial"/>
              </a:defRPr>
            </a:pPr>
            <a:r>
              <a:t>CORE COMMERCIAL VALUE PROPOSITION:</a:t>
            </a:r>
          </a:p>
          <a:p>
            <a:pPr>
              <a:spcBef>
                <a:spcPts val="200"/>
              </a:spcBef>
              <a:defRPr sz="1200" b="1">
                <a:solidFill>
                  <a:srgbClr val="F8FAFC"/>
                </a:solidFill>
                <a:latin typeface="Arial"/>
              </a:defRPr>
            </a:pPr>
            <a:r>
              <a:t>"Reduce avoidable water loss while providing facility managers with one unified system to detect, locate, respond, and quantify operational impact."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5212080" cy="2240280"/>
          </a:xfrm>
          <a:prstGeom prst="rect">
            <a:avLst/>
          </a:prstGeom>
          <a:solidFill>
            <a:srgbClr val="0B2940"/>
          </a:solidFill>
          <a:ln w="12700">
            <a:solidFill>
              <a:srgbClr val="245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846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rial"/>
              </a:defRPr>
            </a:pPr>
            <a:r>
              <a:t>B2B / INSTITUTIONAL MARKET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• University &amp; School Campuses (High volume sub-metering)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• Hospitals &amp; Healthcare Facilities (Critical uptime required)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• Hotels &amp; Commercial Real Estate (Avoid costly water damage)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• Industrial Manufacturing &amp; Data Centers (Process water safety)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103120"/>
            <a:ext cx="5242255" cy="2240280"/>
          </a:xfrm>
          <a:prstGeom prst="rect">
            <a:avLst/>
          </a:prstGeom>
          <a:solidFill>
            <a:srgbClr val="0B2940"/>
          </a:solidFill>
          <a:ln w="12700">
            <a:solidFill>
              <a:srgbClr val="245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87649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rial"/>
              </a:defRPr>
            </a:pPr>
            <a:r>
              <a:t>B2G / PUBLIC UTILITIES MARKET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• Municipal Water Distribution Networks (NRW reduction)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• Smart-City Infrastructure Mandates (Centralized telemetry)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• Public Government Institutions (ESG &amp; sustainability compliance)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• District Water Management Authorities (Regional telemetry)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480560"/>
            <a:ext cx="10728655" cy="2057400"/>
          </a:xfrm>
          <a:prstGeom prst="rect">
            <a:avLst/>
          </a:prstGeom>
          <a:solidFill>
            <a:srgbClr val="0B2940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526280"/>
            <a:ext cx="10362895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Arial"/>
              </a:defRPr>
            </a:pPr>
            <a:r>
              <a:t>BUSINESS MODEL: HYBRID HARDWARE-ENABLED SaaS (SaaS + IoT + ANALYTICS)</a:t>
            </a:r>
          </a:p>
          <a:p>
            <a:pPr>
              <a:spcBef>
                <a:spcPts val="600"/>
              </a:spcBef>
              <a:defRPr sz="1100" b="1">
                <a:solidFill>
                  <a:srgbClr val="22D3EE"/>
                </a:solidFill>
                <a:latin typeface="Arial"/>
              </a:defRPr>
            </a:pPr>
            <a:r>
              <a:t>SENSORS &amp; GATEWAYS  ──►  AQUASENTINEL PLATFORM  ──►  MONITORING SUBSCRIPTION  ──►  ADVANCED ESG ANALYTICS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✓ Annual SaaS Subscription: Per-node / per-building recurring license for cloud monitoring console.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✓ Hardware &amp; Installation: Turnkey deployment of gateway controllers and motorized solenoid valves.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✓ Enterprise ESG Reporting: Premium analytics module for ESG audit compliance and sustainability reporting.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✓ Maintenance &amp; Managed Services: SLA-backed valve servicing and sensor calibration contracts.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solidFill>
              <a:srgbClr val="07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Arial"/>
              </a:defRPr>
            </a:pPr>
            <a:r>
              <a:t>AQUA INTELLIGENCE · HACKDAY 1.0 SUBMISSION  |  SLIDE 06 OF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SCALABILITY &amp; FUTURE — SCALING WATER INFRASTRUCTURE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005840"/>
          </a:xfrm>
          <a:prstGeom prst="rect">
            <a:avLst/>
          </a:prstGeom>
          <a:solidFill>
            <a:srgbClr val="144266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Arial"/>
              </a:defRPr>
            </a:pPr>
            <a:r>
              <a:t>MULTI-STAGE SCALING ROADMAP</a:t>
            </a:r>
          </a:p>
          <a:p>
            <a:pPr>
              <a:spcBef>
                <a:spcPts val="400"/>
              </a:spcBef>
              <a:defRPr sz="1300" b="1">
                <a:solidFill>
                  <a:srgbClr val="22C55E"/>
                </a:solidFill>
                <a:latin typeface="Arial"/>
              </a:defRPr>
            </a:pPr>
            <a:r>
              <a:t>CAMPUS  ──►  MULTI-CAMPUS  ──►  SMART BUILDINGS  ──►  INDUSTRIAL  ──►  MUNICIPAL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77440"/>
            <a:ext cx="2532888" cy="4114800"/>
          </a:xfrm>
          <a:prstGeom prst="rect">
            <a:avLst/>
          </a:prstGeom>
          <a:solidFill>
            <a:srgbClr val="0B2940"/>
          </a:solidFill>
          <a:ln w="12700">
            <a:solidFill>
              <a:srgbClr val="245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225856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01 · SENSORS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Deploy RS485 Modbus flow meters and pressure transducers paired with ESP32 gateway nodes.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56432" y="2377440"/>
            <a:ext cx="2532888" cy="4114800"/>
          </a:xfrm>
          <a:prstGeom prst="rect">
            <a:avLst/>
          </a:prstGeom>
          <a:solidFill>
            <a:srgbClr val="0B2940"/>
          </a:solidFill>
          <a:ln w="12700">
            <a:solidFill>
              <a:srgbClr val="245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2468880"/>
            <a:ext cx="225856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02 · CONNECTIVITY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Implement MQTT over TLS / LoRaWAN communication with local edge-actuation fail-safes.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1344" y="2377440"/>
            <a:ext cx="2532888" cy="4114800"/>
          </a:xfrm>
          <a:prstGeom prst="rect">
            <a:avLst/>
          </a:prstGeom>
          <a:solidFill>
            <a:srgbClr val="0B2940"/>
          </a:solidFill>
          <a:ln w="12700">
            <a:solidFill>
              <a:srgbClr val="245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2468880"/>
            <a:ext cx="225856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03 · CLOUD INTELLIGENCE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Scale multi-tenant cloud telemetry processing with automated differential flow &amp; risk scoring.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06256" y="2377440"/>
            <a:ext cx="2532888" cy="4114800"/>
          </a:xfrm>
          <a:prstGeom prst="rect">
            <a:avLst/>
          </a:prstGeom>
          <a:solidFill>
            <a:srgbClr val="0B2940"/>
          </a:solidFill>
          <a:ln w="12700">
            <a:solidFill>
              <a:srgbClr val="245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43416" y="2468880"/>
            <a:ext cx="225856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04 · PREDICTIVE ANALYTICS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Train models on historical telemetry to identify emerging pressure and flow anomalies before they escalate.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solidFill>
              <a:srgbClr val="07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Arial"/>
              </a:defRPr>
            </a:pPr>
            <a:r>
              <a:t>AQUA INTELLIGENCE · HACKDAY 1.0 SUBMISSION  |  SLIDE 07 OF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IF WE HAD MORE TIME... — FUTURE DEVELOPMENT PRIORITIES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640080"/>
          </a:xfrm>
          <a:prstGeom prst="rect">
            <a:avLst/>
          </a:prstGeom>
          <a:solidFill>
            <a:srgbClr val="144266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D3EE"/>
                </a:solidFill>
                <a:latin typeface="Arial"/>
              </a:defRPr>
            </a:pPr>
            <a:r>
              <a:t>"From prototype intelligence to autonomous water infrastructure."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5257800" cy="1828800"/>
          </a:xfrm>
          <a:prstGeom prst="rect">
            <a:avLst/>
          </a:prstGeom>
          <a:solidFill>
            <a:srgbClr val="0B2940"/>
          </a:solidFill>
          <a:ln w="12700">
            <a:solidFill>
              <a:srgbClr val="245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892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Arial"/>
              </a:defRPr>
            </a:pPr>
            <a:r>
              <a:t>01 · TODAY</a:t>
            </a:r>
          </a:p>
          <a:p>
            <a:pPr>
              <a:spcBef>
                <a:spcPts val="200"/>
              </a:spcBef>
              <a:defRPr sz="1200" b="1">
                <a:solidFill>
                  <a:srgbClr val="F8FAFC"/>
                </a:solidFill>
                <a:latin typeface="Arial"/>
              </a:defRPr>
            </a:pPr>
            <a:r>
              <a:t>Software Prototype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Simulated distributed telemetry, differential flow engine, software-based solenoid actuation, and explainable AI risk diagnostics.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2011680"/>
            <a:ext cx="5257800" cy="1828800"/>
          </a:xfrm>
          <a:prstGeom prst="rect">
            <a:avLst/>
          </a:prstGeom>
          <a:solidFill>
            <a:srgbClr val="0B2940"/>
          </a:solidFill>
          <a:ln w="12700">
            <a:solidFill>
              <a:srgbClr val="245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2148840"/>
            <a:ext cx="4892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02 · NEXT</a:t>
            </a:r>
          </a:p>
          <a:p>
            <a:pPr>
              <a:spcBef>
                <a:spcPts val="200"/>
              </a:spcBef>
              <a:defRPr sz="1200" b="1">
                <a:solidFill>
                  <a:srgbClr val="F8FAFC"/>
                </a:solidFill>
                <a:latin typeface="Arial"/>
              </a:defRPr>
            </a:pPr>
            <a:r>
              <a:t>Real Sensors + Valves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Connect ESP32 microcontrollers, RS485 Modbus ultrasonic flow meters, and physical motorized 12V shutoff valves.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77639"/>
            <a:ext cx="5257800" cy="1828800"/>
          </a:xfrm>
          <a:prstGeom prst="rect">
            <a:avLst/>
          </a:prstGeom>
          <a:solidFill>
            <a:srgbClr val="0B2940"/>
          </a:solidFill>
          <a:ln w="12700">
            <a:solidFill>
              <a:srgbClr val="245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799"/>
            <a:ext cx="4892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03 · FUTURE</a:t>
            </a:r>
          </a:p>
          <a:p>
            <a:pPr>
              <a:spcBef>
                <a:spcPts val="200"/>
              </a:spcBef>
              <a:defRPr sz="1200" b="1">
                <a:solidFill>
                  <a:srgbClr val="F8FAFC"/>
                </a:solidFill>
                <a:latin typeface="Arial"/>
              </a:defRPr>
            </a:pPr>
            <a:r>
              <a:t>Predictive ML + Controlled Response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Train models on historical telemetry to identify emerging pressure and flow anomalies before they escalate, with controlled autonomous shutoff.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3977639"/>
            <a:ext cx="5257800" cy="1828800"/>
          </a:xfrm>
          <a:prstGeom prst="rect">
            <a:avLst/>
          </a:prstGeom>
          <a:solidFill>
            <a:srgbClr val="0B2940"/>
          </a:solidFill>
          <a:ln w="12700">
            <a:solidFill>
              <a:srgbClr val="245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4114799"/>
            <a:ext cx="4892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  <a:latin typeface="Arial"/>
              </a:defRPr>
            </a:pPr>
            <a:r>
              <a:t>04 · VISION</a:t>
            </a:r>
          </a:p>
          <a:p>
            <a:pPr>
              <a:spcBef>
                <a:spcPts val="200"/>
              </a:spcBef>
              <a:defRPr sz="1200" b="1">
                <a:solidFill>
                  <a:srgbClr val="F8FAFC"/>
                </a:solidFill>
                <a:latin typeface="Arial"/>
              </a:defRPr>
            </a:pPr>
            <a:r>
              <a:t>Proactive Water Infrastructure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Scale to multi-campus GIS digital twins, turning reactive monitoring into proactive infrastructure intelligence.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943600"/>
            <a:ext cx="10728655" cy="594360"/>
          </a:xfrm>
          <a:prstGeom prst="rect">
            <a:avLst/>
          </a:prstGeom>
          <a:solidFill>
            <a:srgbClr val="0B2940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989320"/>
            <a:ext cx="1036289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  <a:latin typeface="Arial"/>
              </a:defRPr>
            </a:pPr>
            <a:r>
              <a:t>"Detect today. Predict tomorrow. Protect every drop."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