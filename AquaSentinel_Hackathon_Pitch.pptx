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6B6D4"/>
                </a:solidFill>
                <a:latin typeface="Arial"/>
              </a:defRPr>
            </a:pPr>
            <a:r>
              <a:t>AquaSentinel</a:t>
            </a:r>
          </a:p>
          <a:p>
            <a:pPr>
              <a:spcBef>
                <a:spcPts val="1000"/>
              </a:spcBef>
              <a:defRPr sz="1600" b="1">
                <a:solidFill>
                  <a:srgbClr val="94A3B8"/>
                </a:solidFill>
              </a:defRPr>
            </a:pPr>
            <a:r>
              <a:t>INTELLIGENT WATER OPERATIONS PLATFORM</a:t>
            </a:r>
          </a:p>
          <a:p>
            <a:pPr>
              <a:spcBef>
                <a:spcPts val="2400"/>
              </a:spcBef>
              <a:defRPr sz="2400" i="1">
                <a:solidFill>
                  <a:srgbClr val="F8FAFC"/>
                </a:solidFill>
              </a:defRPr>
            </a:pPr>
            <a:r>
              <a:t>"AI that detects water waste before it becomes a bill."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An intelligent water operations platform that monitors telemetry, detects abnormal usage, explains the signal, predicts potential impact, and helps facility teams act.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5486400"/>
            <a:ext cx="502920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DEMO ENVIRONMENT — SIMULATED SENSOR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Water Waste Is Often Invisible Until It Becomes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94A3B8"/>
                </a:solidFill>
              </a:defRPr>
            </a:pPr>
            <a:r>
              <a:t>"Water leaks and abnormal consumption can continue unnoticed, turning a small deviation into significant water and financial loss."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Hidden Leaks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Sub-surface and behind-the-wall pipe breaches continue without immediate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2. Valve Overflows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Tank float and hydrostatic valve failures cause continuous reservoir overspills.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3. Off-Peak Flow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Night-time continuous running fixtures are difficult to identify manually.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120640" cy="16459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4. Context Gap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Facility teams often receive raw meter readings without actionable operational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Raw Telemetry Data  ≠  Actionable Operational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Closing the Gap From Raw Signal to Maintenance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01. MONITOR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Continuous Telemetry Visibility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1.0s real-time stream of flow, pressure &amp;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645920"/>
            <a:ext cx="201168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02. DETECT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Deterministic Baseline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Flags sustained flow spikes &gt; 1.5x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1168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03. EXPLAIN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AI Diagnostic Reasoning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Generates diagnostic cause &amp; evidence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1168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04. PREDICT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Projected Impact (₹)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Calculates water volume &amp; INR financial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1168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05. ACT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Integrated Work Orders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Dispatches maintenance teams directly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THE CORE TECHNICAL STORY: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"The deterministic anomaly engine identifies abnormal flow. AI then explains the detected anomaly and recommends an action."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PRODUCTION-ORIENTED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Flow Sensors / ESP32: Physical pulse-based flow meters and hardware nodes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MQTT / Modbus Protocol: Industrial IoT messaging protocol layer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Telemetry Stream Layer: 1.0s sampling real-time ingestion queue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Deterministic Engine: Threshold comparison (&gt;1.5x baseline)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AI Diagnostic Layer: Root-cause explanation &amp; evidence timeline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Operations Dashboard: Alerts &amp; integrated work order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CURRENT HACKATHON PROTOTYPE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Simulated Telemetry Engine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Powered by a standalone simulated telemetry engine to demonstrate the complete end-to-end intelligence workflow.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Deterministic Logic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Strict 43 L/min baseline and 64.5 L/min anomaly threshold rules.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AI Diagnostic Engine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Downstream diagnostic explanations powered by contextual reasoning.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Financial Loss Engine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Real-time mathematical forecasting in Indian Rupees (₹).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Work Order Workflow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Full ticketing lifecycle from creation to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DETECTION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Detection Is Deterministic. AI Explains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EXPECTED BASELINE (B)</a:t>
            </a:r>
          </a:p>
          <a:p>
            <a:pPr>
              <a:spcBef>
                <a:spcPts val="400"/>
              </a:spcBef>
              <a:defRPr sz="3200" b="1">
                <a:solidFill>
                  <a:srgbClr val="06B6D4"/>
                </a:solidFill>
              </a:defRPr>
            </a:pPr>
            <a:r>
              <a:t>43 L/min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ANOMALY THRESHOLD (T = 1.5 × B)</a:t>
            </a:r>
          </a:p>
          <a:p>
            <a:pPr>
              <a:spcBef>
                <a:spcPts val="400"/>
              </a:spcBef>
              <a:defRPr sz="3200" b="1">
                <a:solidFill>
                  <a:srgbClr val="EF4444"/>
                </a:solidFill>
              </a:defRPr>
            </a:pPr>
            <a:r>
              <a:t>64.5 L/min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REAL-TIME FLOW PROGRESSION STATE</a:t>
            </a:r>
          </a:p>
          <a:p>
            <a:pPr>
              <a:spcBef>
                <a:spcPts val="1000"/>
              </a:spcBef>
              <a:defRPr sz="1500" b="1">
                <a:solidFill>
                  <a:srgbClr val="22C55E"/>
                </a:solidFill>
              </a:defRPr>
            </a:pPr>
            <a:r>
              <a:t>• 43 L/min  ───&gt;  Normal Baseline</a:t>
            </a:r>
          </a:p>
          <a:p>
            <a:pPr>
              <a:spcBef>
                <a:spcPts val="1000"/>
              </a:spcBef>
              <a:defRPr sz="1500" b="1">
                <a:solidFill>
                  <a:srgbClr val="F59E0B"/>
                </a:solidFill>
              </a:defRPr>
            </a:pPr>
            <a:r>
              <a:t>• 61 L/min  ───&gt;  Elevated Flow Variance</a:t>
            </a:r>
          </a:p>
          <a:p>
            <a:pPr>
              <a:spcBef>
                <a:spcPts val="1000"/>
              </a:spcBef>
              <a:defRPr sz="1500" b="1">
                <a:solidFill>
                  <a:srgbClr val="EF4444"/>
                </a:solidFill>
              </a:defRPr>
            </a:pPr>
            <a:r>
              <a:t>• 78 L/min  ───&gt;  Threshold Crossed (&gt;64.5 L/m)</a:t>
            </a:r>
          </a:p>
          <a:p>
            <a:pPr>
              <a:spcBef>
                <a:spcPts val="1000"/>
              </a:spcBef>
              <a:defRPr sz="1500" b="1">
                <a:solidFill>
                  <a:srgbClr val="EF4444"/>
                </a:solidFill>
              </a:defRPr>
            </a:pPr>
            <a:r>
              <a:t>• 94 L/min  ───&gt;  Sustained Critical Anomaly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TECHNICAL CREDIBILITY PRINCIPLE: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"AI is not guessing whether an anomaly exists. The deterministic engine compares live flow against a defined baseline threshold and evaluates sustained deviation; AI explains what the signal means."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DEMO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Normal vs Simulated Leak State (Prototype Telemetry)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3657600"/>
              </a:tblGrid>
              <a:tr h="44888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Normal System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Simulated Leak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Current Flow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43 L/min (Normal noise 41–44 L/min)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94 L/min (Elevated ~2.2x baseline)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Expected Baseline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43 L/min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43 L/min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Deviation 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+118%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Threshold (1.5x)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64.5 L/min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64.5 L/min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System Status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Normal 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Critical Abnormal-Flow 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Active Alarms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 Alarms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1 Active Alarm (Block B)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15 min Simulated Excess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 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765 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6-Hour Projected Excess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 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18,360 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6-Hour Financial Impact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₹826.20 (at ₹45.00 / kL)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Maintenance Action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action required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Work Order #104 Triggered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REASONING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Don't Just Alert. Explain.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OPERATIONAL DIAGNOSTIC SUMMARY  │  AI Confidence: 94%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DIAGNOSTIC EXPLANATION:</a:t>
            </a:r>
            <a:br/>
            <a:r>
              <a:t>"Water flow has remained sustained at 94 L/min (2.2× baseline) for 15 min (simulated). The sustained continuous flow pattern is inconsistent with standard usage and indicates a continuous pipe leak."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EVIDENCE TIMELINE (MAGNITUDE + DURATION):</a:t>
            </a:r>
            <a:br/>
            <a:r>
              <a:t>• NORMAL: 43 L/min baseline</a:t>
            </a:r>
            <a:br/>
            <a:r>
              <a:t>• FLOW INCREASE: 61 L/min (Elevated consumption)</a:t>
            </a:r>
            <a:br/>
            <a:r>
              <a:t>• THRESHOLD CROSSED: 78 L/min (Exceeded 64.5 L/min)</a:t>
            </a:r>
            <a:br/>
            <a:r>
              <a:t>• SUSTAINED DEVIATION: 94 L/min (15 min simulated)</a:t>
            </a:r>
            <a:br/>
            <a:r>
              <a:t>• ANOMALY CONFIRMED: Sustained abnormal flow confirmed</a:t>
            </a:r>
          </a:p>
          <a:p>
            <a:pPr>
              <a:spcBef>
                <a:spcPts val="1000"/>
              </a:spcBef>
              <a:defRPr sz="1300" b="1">
                <a:solidFill>
                  <a:srgbClr val="22C55E"/>
                </a:solidFill>
              </a:defRPr>
            </a:pPr>
            <a:r>
              <a:t>POSSIBLE CAUSE: Continuous pipe leakage</a:t>
            </a:r>
            <a:br/>
            <a:r>
              <a:t>RECOMMENDED ACTION: Inspect Block B — Floor 2 washroom &amp; isolate valve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CONVENTIONAL: "Flow is high."  ──&gt;  AQUASENTINEL: "Flow is high ──&gt; Baseline exceeded ──&gt; Deviation sustained ──&gt; Possible cause explained ──&gt; Impact projected ──&gt; Action recommended."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ACTIONABLE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From Detection to Work Order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WORK ORDER TICKET #104  │  PRIORITY: CRITICAL  │  STATUS: ASSIGNED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Facility Location: Block B — Floor 2 Washrooms &amp; Utility Line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Telemetry Readout: 94 L/min current flow vs 43 L/min baseline (+118% deviation)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Simulated Duration: 15 min simulated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Projected 6-Hour Excess: 18,360 Liters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Projected Financial Impact: ₹826.20 (configured at ₹45.00 / kL)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Assigned Team: Facility Maintenance / Plumbing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SYSTEM RESET BEHAVIOR: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"Pressing RESET clears the active live anomaly state and restores telemetry to 43 L/min, while preserving Ticket #104 in the historical work-order registry."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Quantifying Waste to Prioritize Operational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EXCESS FLOW RATE FORMULA:  Excess (E) = max(0, Current Flow - Baseline Flow) = 94 - 43 = 51 L/min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46888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15 MIN SIMULATED</a:t>
            </a:r>
          </a:p>
          <a:p>
            <a:pPr>
              <a:spcBef>
                <a:spcPts val="1600"/>
              </a:spcBef>
              <a:defRPr sz="2800" b="1">
                <a:solidFill>
                  <a:srgbClr val="06B6D4"/>
                </a:solidFill>
              </a:defRPr>
            </a:pPr>
            <a:r>
              <a:t>765 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377440"/>
            <a:ext cx="246888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1 HOUR PROJECTED</a:t>
            </a:r>
          </a:p>
          <a:p>
            <a:pPr>
              <a:spcBef>
                <a:spcPts val="1600"/>
              </a:spcBef>
              <a:defRPr sz="2800" b="1">
                <a:solidFill>
                  <a:srgbClr val="06B6D4"/>
                </a:solidFill>
              </a:defRPr>
            </a:pPr>
            <a:r>
              <a:t>3,060 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246888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6 HOURS PROJECTED</a:t>
            </a:r>
          </a:p>
          <a:p>
            <a:pPr>
              <a:spcBef>
                <a:spcPts val="1600"/>
              </a:spcBef>
              <a:defRPr sz="2800" b="1">
                <a:solidFill>
                  <a:srgbClr val="F59E0B"/>
                </a:solidFill>
              </a:defRPr>
            </a:pPr>
            <a:r>
              <a:t>18,360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377440"/>
            <a:ext cx="246888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24 HOURS PROJECTED</a:t>
            </a:r>
          </a:p>
          <a:p>
            <a:pPr>
              <a:spcBef>
                <a:spcPts val="1600"/>
              </a:spcBef>
              <a:defRPr sz="2800" b="1">
                <a:solidFill>
                  <a:srgbClr val="EF4444"/>
                </a:solidFill>
              </a:defRPr>
            </a:pPr>
            <a:r>
              <a:t>73,440 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ESTIMATED 6-HOUR FINANCIAL LOSS FORECAST: ₹826.20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Calculation Breakdown: (18,360 L ÷ 1,000) × ₹45/kL = ₹826.20</a:t>
            </a:r>
          </a:p>
          <a:p>
            <a:pPr>
              <a:spcBef>
                <a:spcPts val="1000"/>
              </a:spcBef>
              <a:defRPr sz="1100" i="1">
                <a:solidFill>
                  <a:srgbClr val="94A3B8"/>
                </a:solidFill>
              </a:defRPr>
            </a:pPr>
            <a:r>
              <a:t>Disclaimer: All metrics represent mathematical loss projections from simulated telemetry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Not Another Dashboard. An Operational Intelligence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CONVENTIONAL MONITORING APPROACH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• Raw telemetry visualization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• Operator interpretation required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• Limited impact context provided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• Separate operational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AQUASENTINEL PROTOTYPE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Baseline-based anomaly detection engine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AI diagnostic explanation &amp; evidence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Projected water volume &amp; financial impact (₹)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Integrated work-order ticketing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"AquaSentinel sits on top of water telemetry as an intelligent operational layer."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ROADMAP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Built as a Working Prototype. Designed for Real-World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TODAY (Working Prototype)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Simulated sensor telemetry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1.5x baseline anomaly threshold rule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AI diagnostic explanation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Projected impact in ₹ INR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Work-order ticketing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NEXT PHASE (Real-World Deployment)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ESP32 + Pulse Flow Meters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MQTT / Modbus Broker integration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Multi-building facility deployment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Historical real telemetry model training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Automated shut-off valve triggers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"AquaSentinel turns water data into decisions — before waste becomes a bill."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6B6D4"/>
                </a:solidFill>
              </a:defRPr>
            </a:pPr>
            <a:r>
              <a:t>MONITOR  →  DETECT  →  EXPLAIN  →  PREDICT  →  ACT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Live Demo: Available during presentation  │  GitHub: github.com/yasham-06/Aquasentinal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